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296" y="2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A3A5E-C4D0-42F0-80A2-38B455D201D3}" type="datetimeFigureOut">
              <a:rPr lang="en-US" smtClean="0"/>
              <a:t>08-Oct-26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78994-1AD8-491D-8990-0AC2C4553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86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5" y="711141"/>
            <a:ext cx="10566357" cy="44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5" y="1463013"/>
            <a:ext cx="10566415" cy="4582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5" y="711141"/>
            <a:ext cx="10566357" cy="44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5" y="1463013"/>
            <a:ext cx="10566415" cy="4582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711141"/>
            <a:ext cx="10883348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9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PDG IN DATA ANALYTICS · CAPSTONE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5" y="1264782"/>
            <a:ext cx="10883348" cy="1412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&amp; Customer Management App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785" y="2956425"/>
            <a:ext cx="10883348" cy="380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C9D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intelligent, multi-page analytics platform for sales teams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785" y="3616781"/>
            <a:ext cx="10883348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 </a:t>
            </a:r>
            <a:r>
              <a:rPr lang="en-US" sz="1400" dirty="0" smtClean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Mujakkir Ahmad</a:t>
            </a:r>
            <a:r>
              <a:rPr lang="en-US" sz="1400" dirty="0" smtClean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en-US" sz="1400" dirty="0" smtClean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09-10-2026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85" y="3941778"/>
            <a:ext cx="10883348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· Streamlit · Pandas · Plotly · Scikit-learn ·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5" y="711142"/>
            <a:ext cx="10883348" cy="47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with traditional sales tracking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60" y="1466174"/>
            <a:ext cx="3414199" cy="1178763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630" y="1670845"/>
            <a:ext cx="3095004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0630" y="1978128"/>
            <a:ext cx="3095004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lives across Excel files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65" y="1466174"/>
            <a:ext cx="3414199" cy="1178763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3535" y="1670845"/>
            <a:ext cx="3095004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reporting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93535" y="1978128"/>
            <a:ext cx="3095004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reports take hours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769" y="1466174"/>
            <a:ext cx="3414199" cy="1178763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6439" y="1670845"/>
            <a:ext cx="3095004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live 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66439" y="1978128"/>
            <a:ext cx="3095004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real-time visibility into outstanding balances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60" y="2803643"/>
            <a:ext cx="3414199" cy="947694"/>
          </a:xfrm>
          <a:prstGeom prst="roundRect">
            <a:avLst>
              <a:gd name="adj" fmla="val 1038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0630" y="3008313"/>
            <a:ext cx="3095004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reactive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0630" y="3315598"/>
            <a:ext cx="3095004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forecasting of future sales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8865" y="2803643"/>
            <a:ext cx="3414199" cy="947694"/>
          </a:xfrm>
          <a:prstGeom prst="roundRect">
            <a:avLst>
              <a:gd name="adj" fmla="val 1038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3535" y="3008313"/>
            <a:ext cx="3095004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Hidden risk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3535" y="3315598"/>
            <a:ext cx="3095004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to spot at-risk customers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61769" y="2803643"/>
            <a:ext cx="3414199" cy="947694"/>
          </a:xfrm>
          <a:prstGeom prst="roundRect">
            <a:avLst>
              <a:gd name="adj" fmla="val 1038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6439" y="3008313"/>
            <a:ext cx="3095004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reports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66439" y="3315598"/>
            <a:ext cx="3095004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are not interactive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5" y="711141"/>
            <a:ext cx="10883348" cy="47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app · eleven pages · </a:t>
            </a:r>
            <a:r>
              <a:rPr lang="en-US" b="1" dirty="0" smtClean="0"/>
              <a:t>One</a:t>
            </a:r>
            <a:r>
              <a:rPr lang="en-US" sz="3200" b="1" i="0" dirty="0" smtClean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60" y="1466174"/>
            <a:ext cx="2540044" cy="932406"/>
          </a:xfrm>
          <a:prstGeom prst="roundRect">
            <a:avLst>
              <a:gd name="adj" fmla="val 1055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630" y="1670844"/>
            <a:ext cx="2194626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20630" y="1962841"/>
            <a:ext cx="219462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 + filters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89281" y="1466174"/>
            <a:ext cx="2540044" cy="932406"/>
          </a:xfrm>
          <a:prstGeom prst="roundRect">
            <a:avLst>
              <a:gd name="adj" fmla="val 1055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93951" y="1670844"/>
            <a:ext cx="2194626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93951" y="1962841"/>
            <a:ext cx="219462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Per-customer 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62602" y="1466174"/>
            <a:ext cx="2540044" cy="932406"/>
          </a:xfrm>
          <a:prstGeom prst="roundRect">
            <a:avLst>
              <a:gd name="adj" fmla="val 1055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7272" y="1670844"/>
            <a:ext cx="2194626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67272" y="1962841"/>
            <a:ext cx="219462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35923" y="1466174"/>
            <a:ext cx="2540044" cy="932406"/>
          </a:xfrm>
          <a:prstGeom prst="roundRect">
            <a:avLst>
              <a:gd name="adj" fmla="val 1055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40593" y="1670844"/>
            <a:ext cx="2194626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Entry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40593" y="1962841"/>
            <a:ext cx="219462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sale live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960" y="2531858"/>
            <a:ext cx="2540044" cy="932406"/>
          </a:xfrm>
          <a:prstGeom prst="roundRect">
            <a:avLst>
              <a:gd name="adj" fmla="val 1055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0630" y="2736528"/>
            <a:ext cx="2194626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20630" y="3028525"/>
            <a:ext cx="219462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types + CSV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89281" y="2531858"/>
            <a:ext cx="2540044" cy="932406"/>
          </a:xfrm>
          <a:prstGeom prst="roundRect">
            <a:avLst>
              <a:gd name="adj" fmla="val 1055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93951" y="2736528"/>
            <a:ext cx="2194626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93951" y="3028525"/>
            <a:ext cx="219462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Trends + charts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62602" y="2531858"/>
            <a:ext cx="2540044" cy="932406"/>
          </a:xfrm>
          <a:prstGeom prst="roundRect">
            <a:avLst>
              <a:gd name="adj" fmla="val 1055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7272" y="2736528"/>
            <a:ext cx="2194626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Charts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67272" y="3028525"/>
            <a:ext cx="219462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chart types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835923" y="2531858"/>
            <a:ext cx="2540044" cy="932406"/>
          </a:xfrm>
          <a:prstGeom prst="roundRect">
            <a:avLst>
              <a:gd name="adj" fmla="val 1055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40593" y="2736528"/>
            <a:ext cx="2194626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40593" y="3028525"/>
            <a:ext cx="219462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 + more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5960" y="3597540"/>
            <a:ext cx="2540044" cy="932406"/>
          </a:xfrm>
          <a:prstGeom prst="roundRect">
            <a:avLst>
              <a:gd name="adj" fmla="val 1055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0630" y="3802210"/>
            <a:ext cx="2194626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Chat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20630" y="4094207"/>
            <a:ext cx="219462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questions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89281" y="3597540"/>
            <a:ext cx="2540044" cy="932406"/>
          </a:xfrm>
          <a:prstGeom prst="roundRect">
            <a:avLst>
              <a:gd name="adj" fmla="val 1055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93951" y="3802210"/>
            <a:ext cx="2194626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Mgmt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693951" y="4094207"/>
            <a:ext cx="219462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/ save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62602" y="3597540"/>
            <a:ext cx="2540044" cy="932406"/>
          </a:xfrm>
          <a:prstGeom prst="roundRect">
            <a:avLst>
              <a:gd name="adj" fmla="val 10556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7272" y="3802210"/>
            <a:ext cx="2194626" cy="253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Data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67272" y="4094207"/>
            <a:ext cx="219462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editing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5" y="711143"/>
            <a:ext cx="10883348" cy="47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85" y="1462999"/>
            <a:ext cx="10883348" cy="30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file → Pandas DataFrame → Streamlit session → enrich()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785" y="2052286"/>
            <a:ext cx="10883348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enrich() adds Net Sales, Outstanding, Commission, Profit and Geo columns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93" y="2597549"/>
          <a:ext cx="10556950" cy="3301340"/>
        </p:xfrm>
        <a:graphic>
          <a:graphicData uri="http://schemas.openxmlformats.org/drawingml/2006/table">
            <a:tbl>
              <a:tblPr/>
              <a:tblGrid>
                <a:gridCol w="5278475"/>
                <a:gridCol w="5278475"/>
              </a:tblGrid>
              <a:tr h="471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471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UI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Streamlit 1.36+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Pandas · NumPy · OpenPyXL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Charts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Plotly · PyDeck · ECharts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ML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Scikit-learn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Rule-based · OpenAI (optional)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Styling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 CSS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5" y="711141"/>
            <a:ext cx="10883348" cy="47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highlights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60" y="1466174"/>
            <a:ext cx="3414199" cy="2265686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630" y="1670844"/>
            <a:ext cx="309500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20630" y="2496272"/>
            <a:ext cx="309500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Simultaneous filters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0630" y="2833982"/>
            <a:ext cx="3095004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· Executive · Customer · Type · Zone · Channel · Bank · Payment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65" y="1466174"/>
            <a:ext cx="3414199" cy="2265686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3535" y="1670844"/>
            <a:ext cx="309500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93535" y="2496272"/>
            <a:ext cx="309500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93535" y="2833982"/>
            <a:ext cx="3095004" cy="71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· Credited · Outstanding · Profit · Commission · Collection rate · Customers · Executives · Averages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61769" y="1466174"/>
            <a:ext cx="3414199" cy="2265686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6439" y="1670844"/>
            <a:ext cx="309500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166439" y="2496272"/>
            <a:ext cx="309500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charts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66439" y="2833982"/>
            <a:ext cx="3095004" cy="71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bars · Bank pie · Outstanding top-15 · Daily trend · Channel bars · Customer-type pie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785" y="4039822"/>
            <a:ext cx="10883348" cy="29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CSV export of the filtered data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5" y="711141"/>
            <a:ext cx="10883348" cy="47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&amp; executive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60" y="1466174"/>
            <a:ext cx="5175221" cy="2035793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630" y="1670844"/>
            <a:ext cx="490885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2512" y="2008556"/>
            <a:ext cx="4829356" cy="131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Per-customer dashboard: sales, credited, outstanding, returns</a:t>
            </a:r>
            <a:endParaRPr lang="en-US" sz="1400" dirty="0"/>
          </a:p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Payment-method breakdown pie</a:t>
            </a:r>
            <a:endParaRPr lang="en-US" sz="1400" dirty="0"/>
          </a:p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vs credited trend line</a:t>
            </a:r>
            <a:endParaRPr lang="en-US" sz="1400" dirty="0"/>
          </a:p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10 transactions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673" y="1466174"/>
            <a:ext cx="5175295" cy="2035793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5343" y="1670844"/>
            <a:ext cx="490893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dashboard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77225" y="2008556"/>
            <a:ext cx="4829431" cy="131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ranking</a:t>
            </a:r>
            <a:endParaRPr lang="en-US" sz="1400" dirty="0"/>
          </a:p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rate (%)</a:t>
            </a:r>
            <a:endParaRPr lang="en-US" sz="1400" dirty="0"/>
          </a:p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 earned</a:t>
            </a:r>
            <a:endParaRPr lang="en-US" sz="1400" dirty="0"/>
          </a:p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Drill-down: zone and channel performance</a:t>
            </a:r>
            <a:endParaRPr lang="en-US" sz="1400" dirty="0"/>
          </a:p>
          <a:p>
            <a:pPr marL="182118" indent="-18211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list per executive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5" y="711144"/>
            <a:ext cx="10883348" cy="47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engine: 10 types, 4 formats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60" y="1466174"/>
            <a:ext cx="3414199" cy="1673828"/>
          </a:xfrm>
          <a:prstGeom prst="roundRect">
            <a:avLst>
              <a:gd name="adj" fmla="val 5880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630" y="1670847"/>
            <a:ext cx="3095004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report types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0630" y="1978130"/>
            <a:ext cx="3095004" cy="71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· Zone · Channel · Customer Type · Bank · Payment Method · Monthly · Top Customers · Aging · Returns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65" y="1466174"/>
            <a:ext cx="3414199" cy="1673828"/>
          </a:xfrm>
          <a:prstGeom prst="roundRect">
            <a:avLst>
              <a:gd name="adj" fmla="val 5880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3535" y="1670847"/>
            <a:ext cx="3095004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report includes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78879" y="1978130"/>
            <a:ext cx="3002040" cy="982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 and share % columns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 % vs previous period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Auto-generated TOTAL row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control and Top-N slider (5–500)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769" y="1466174"/>
            <a:ext cx="3414199" cy="1673828"/>
          </a:xfrm>
          <a:prstGeom prst="roundRect">
            <a:avLst>
              <a:gd name="adj" fmla="val 5880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6439" y="1670847"/>
            <a:ext cx="3095004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66439" y="1978130"/>
            <a:ext cx="3095004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· Excel · JSON · Print-ready HTML (Ctrl+P for PDF)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5" y="711141"/>
            <a:ext cx="10883348" cy="47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chart technologies in one app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93" y="1472406"/>
          <a:ext cx="10556950" cy="2829720"/>
        </p:xfrm>
        <a:graphic>
          <a:graphicData uri="http://schemas.openxmlformats.org/drawingml/2006/table">
            <a:tbl>
              <a:tblPr/>
              <a:tblGrid>
                <a:gridCol w="5278475"/>
                <a:gridCol w="5278475"/>
              </a:tblGrid>
              <a:tr h="471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471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st.area_chart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Filled trend lines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st.line_chart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Multi-series comparison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st.scatter_chart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Quick correlation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st.pydeck_chart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Geo map (sales zone bubbles)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6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st_echarts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4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Gauge · radar · gradient bars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785" y="4606913"/>
            <a:ext cx="10883348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Fallback: if PyDeck or ECharts are missing, the app switches to Plotly and never crashes.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5" y="711144"/>
            <a:ext cx="10883348" cy="47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ML models built 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60" y="1466174"/>
            <a:ext cx="5200651" cy="1193977"/>
          </a:xfrm>
          <a:prstGeom prst="roundRect">
            <a:avLst>
              <a:gd name="adj" fmla="val 8243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630" y="1670844"/>
            <a:ext cx="4935050" cy="28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Sales forecast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0630" y="1993342"/>
            <a:ext cx="4935050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RandomForestRegressor · next 1–12 months · R² · MAE · feature importance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5317" y="1466174"/>
            <a:ext cx="5200651" cy="1193977"/>
          </a:xfrm>
          <a:prstGeom prst="roundRect">
            <a:avLst>
              <a:gd name="adj" fmla="val 8243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79987" y="1670844"/>
            <a:ext cx="4935050" cy="28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Customer segmentation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79987" y="1993342"/>
            <a:ext cx="4935050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KMeans + StandardScaler · k clusters · 3D scatter · segment profiles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60" y="2818860"/>
            <a:ext cx="5200651" cy="1193977"/>
          </a:xfrm>
          <a:prstGeom prst="roundRect">
            <a:avLst>
              <a:gd name="adj" fmla="val 8243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0630" y="3023530"/>
            <a:ext cx="4935050" cy="28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Outstanding prediction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20630" y="3346028"/>
            <a:ext cx="499280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RandomForestRegressor · predicted vs actual · feature importance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5317" y="2818860"/>
            <a:ext cx="5200651" cy="1193977"/>
          </a:xfrm>
          <a:prstGeom prst="roundRect">
            <a:avLst>
              <a:gd name="adj" fmla="val 8243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9987" y="3023530"/>
            <a:ext cx="4935050" cy="28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Churn risk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79987" y="3346028"/>
            <a:ext cx="4935050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RandomForestClassifier · churn probability · top 15 at-risk · CSV export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5" y="711138"/>
            <a:ext cx="10883348" cy="47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chat with your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60" y="1466174"/>
            <a:ext cx="5175221" cy="1913129"/>
          </a:xfrm>
          <a:prstGeom prst="roundRect">
            <a:avLst>
              <a:gd name="adj" fmla="val 5145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630" y="1670844"/>
            <a:ext cx="4908858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plain English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0630" y="1978124"/>
            <a:ext cx="4908858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“Top 5 customers by sales” → bar chart + ranked list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0630" y="2290409"/>
            <a:ext cx="4908858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“Show sales by executive” → bar chart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0630" y="2602688"/>
            <a:ext cx="4908858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Optional: set OPENAI_API_KEY for natural-language answers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00673" y="1466174"/>
            <a:ext cx="5175295" cy="1913129"/>
          </a:xfrm>
          <a:prstGeom prst="roundRect">
            <a:avLst>
              <a:gd name="adj" fmla="val 5145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5343" y="1670844"/>
            <a:ext cx="4908933" cy="269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Rule-based, no API key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0687" y="1978124"/>
            <a:ext cx="4815969" cy="122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sales / outstanding / credited / profit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N customers / executives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by executive / zone / channel / bank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trend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many customers / executives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5" y="711138"/>
            <a:ext cx="10883348" cy="47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Impact, challenges &amp;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60" y="1466174"/>
            <a:ext cx="3414199" cy="2167643"/>
          </a:xfrm>
          <a:prstGeom prst="roundRect">
            <a:avLst>
              <a:gd name="adj" fmla="val 4541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630" y="1670844"/>
            <a:ext cx="3095004" cy="28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05974" y="1993342"/>
            <a:ext cx="3002040" cy="1461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hours of manual Excel reporting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view of outstanding balances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Predictive, not reactive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Non-technical self-service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65" y="1466174"/>
            <a:ext cx="3414199" cy="2167643"/>
          </a:xfrm>
          <a:prstGeom prst="roundRect">
            <a:avLst>
              <a:gd name="adj" fmla="val 4541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3535" y="1670844"/>
            <a:ext cx="3095004" cy="28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solved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78879" y="1993342"/>
            <a:ext cx="3002040" cy="982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Multi-page state (session_state)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Fallbacks for optional packages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calculations in Sales Entry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theming on 11 pages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769" y="1466174"/>
            <a:ext cx="3414199" cy="2167643"/>
          </a:xfrm>
          <a:prstGeom prst="roundRect">
            <a:avLst>
              <a:gd name="adj" fmla="val 4541"/>
            </a:avLst>
          </a:prstGeom>
          <a:solidFill>
            <a:srgbClr val="FFFFFF"/>
          </a:solidFill>
          <a:ln w="6350">
            <a:solidFill>
              <a:srgbClr val="E3D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6439" y="1670844"/>
            <a:ext cx="3095004" cy="28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51783" y="1993342"/>
            <a:ext cx="3002040" cy="122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/ Snowflake backend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authentication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and SMS churn alerts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Mobile-optimised PWA</a:t>
            </a:r>
            <a:endParaRPr lang="en-US" sz="1300" dirty="0"/>
          </a:p>
          <a:p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2B34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fine-tuned on sales data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5" y="711144"/>
            <a:ext cx="10883348" cy="807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E89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12785" y="1798210"/>
            <a:ext cx="10883348" cy="380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&amp; Customer Management App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785" y="2458566"/>
            <a:ext cx="10883348" cy="29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D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pages · 4 ML models · AI chat · 5 chart types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785" y="3029998"/>
            <a:ext cx="10883348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</a:t>
            </a:r>
            <a:r>
              <a:rPr lang="en-US" sz="1400" dirty="0" smtClean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</a:t>
            </a:r>
            <a:r>
              <a:rPr lang="en-US" sz="1400" dirty="0" err="1" smtClean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mujakkirdv</a:t>
            </a:r>
            <a:r>
              <a:rPr lang="en-US" sz="1400" dirty="0" smtClean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/Sales-Customer-Management-App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85" y="3342277"/>
            <a:ext cx="10883348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Email: </a:t>
            </a:r>
            <a:r>
              <a:rPr lang="en-US" sz="1400" dirty="0" smtClean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mujakkir.dv@gmail.com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785" y="3654561"/>
            <a:ext cx="10883348" cy="27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LinkedIn: </a:t>
            </a:r>
            <a:r>
              <a:rPr lang="en-US" sz="1400" dirty="0" smtClean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linkedin.com/in/</a:t>
            </a:r>
            <a:r>
              <a:rPr lang="en-US" sz="1400" dirty="0" err="1" smtClean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mujakkir</a:t>
            </a:r>
            <a:r>
              <a:rPr lang="en-US" sz="1400" dirty="0" smtClean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-dv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785" y="4208202"/>
            <a:ext cx="10883348" cy="34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E89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“Turning data into decisions, one dashboard at a time.”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 &amp; Customer Management App">
  <a:themeElements>
    <a:clrScheme name="Sales &amp; Customer Management App">
      <a:dk1>
        <a:srgbClr val="14213D"/>
      </a:dk1>
      <a:lt1>
        <a:srgbClr val="F6F4EE"/>
      </a:lt1>
      <a:dk2>
        <a:srgbClr val="4D5669"/>
      </a:dk2>
      <a:lt2>
        <a:srgbClr val="DFDFDC"/>
      </a:lt2>
      <a:accent1>
        <a:srgbClr val="B45309"/>
      </a:accent1>
      <a:accent2>
        <a:srgbClr val="E8913A"/>
      </a:accent2>
      <a:accent3>
        <a:srgbClr val="4A5262"/>
      </a:accent3>
      <a:accent4>
        <a:srgbClr val="C9D1E0"/>
      </a:accent4>
      <a:accent5>
        <a:srgbClr val="9AA0A6"/>
      </a:accent5>
      <a:accent6>
        <a:srgbClr val="6E7584"/>
      </a:accent6>
      <a:hlink>
        <a:srgbClr val="0563C1"/>
      </a:hlink>
      <a:folHlink>
        <a:srgbClr val="954F72"/>
      </a:folHlink>
    </a:clrScheme>
    <a:fontScheme name="Sales &amp; Customer Management App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689</Words>
  <Application>Microsoft Office PowerPoint</Application>
  <PresentationFormat>Custom</PresentationFormat>
  <Paragraphs>161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Sales &amp; Customer Management App</vt:lpstr>
      <vt:lpstr>Sales &amp; Customer Management App</vt:lpstr>
      <vt:lpstr>The problem with traditional sales tracking</vt:lpstr>
      <vt:lpstr>One app · eleven pages · One databases</vt:lpstr>
      <vt:lpstr>Architecture &amp; tech stack</vt:lpstr>
      <vt:lpstr>Dashboard highlights</vt:lpstr>
      <vt:lpstr>Customer &amp; executive insights</vt:lpstr>
      <vt:lpstr>Reports engine: 10 types, 4 formats</vt:lpstr>
      <vt:lpstr>Five chart technologies in one app</vt:lpstr>
      <vt:lpstr>Four ML models built in</vt:lpstr>
      <vt:lpstr>AI chat with your data</vt:lpstr>
      <vt:lpstr>Impact, challenges &amp; future work</vt:lpstr>
      <vt:lpstr>Thank you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Customer Management App</dc:title>
  <dc:subject/>
  <dc:creator/>
  <cp:lastModifiedBy>Mujakkir</cp:lastModifiedBy>
  <cp:revision>2</cp:revision>
  <dcterms:created xsi:type="dcterms:W3CDTF">2026-10-08T11:50:06Z</dcterms:created>
  <dcterms:modified xsi:type="dcterms:W3CDTF">2026-10-08T11:55:01Z</dcterms:modified>
</cp:coreProperties>
</file>